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Lora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LoraSemiBold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SemiBold-boldItalic.fntdata"/><Relationship Id="rId30" Type="http://schemas.openxmlformats.org/officeDocument/2006/relationships/font" Target="fonts/Lora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ace342f6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ace342f6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b9e2f34b4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b9e2f34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b9e2f34b4_1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b9e2f34b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bde826295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bde82629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de826295_0_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bde8262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80f0d1a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80f0d1a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80f0d1a4c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80f0d1a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80f0d1a4c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80f0d1a4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80f0d1a4c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80f0d1a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4e83887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4e8388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84e838873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84e83887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84e838873_1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84e838873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4e838873_1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84e83887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84e838873_1_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84e83887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8f81edecc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8f81ede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8f81edecc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8f81edec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f81edecc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8f81edec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571650" y="1537550"/>
            <a:ext cx="24246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l" sz="2000"/>
              <a:t>Adam Bogusz</a:t>
            </a:r>
            <a:endParaRPr sz="2000"/>
          </a:p>
        </p:txBody>
      </p:sp>
      <p:sp>
        <p:nvSpPr>
          <p:cNvPr id="68" name="Google Shape;68;p13"/>
          <p:cNvSpPr txBox="1"/>
          <p:nvPr/>
        </p:nvSpPr>
        <p:spPr>
          <a:xfrm>
            <a:off x="3345000" y="1665075"/>
            <a:ext cx="57990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>
                <a:latin typeface="Lora SemiBold"/>
                <a:ea typeface="Lora SemiBold"/>
                <a:cs typeface="Lora SemiBold"/>
                <a:sym typeface="Lora SemiBold"/>
              </a:rPr>
              <a:t>Personalized Clustering</a:t>
            </a:r>
            <a:br>
              <a:rPr lang="pl" sz="2700">
                <a:latin typeface="Lora SemiBold"/>
                <a:ea typeface="Lora SemiBold"/>
                <a:cs typeface="Lora SemiBold"/>
                <a:sym typeface="Lora SemiBold"/>
              </a:rPr>
            </a:br>
            <a:r>
              <a:rPr lang="pl" sz="2700">
                <a:latin typeface="Lora SemiBold"/>
                <a:ea typeface="Lora SemiBold"/>
                <a:cs typeface="Lora SemiBold"/>
                <a:sym typeface="Lora SemiBold"/>
              </a:rPr>
              <a:t>for Emotion Recognition Improvement</a:t>
            </a:r>
            <a:endParaRPr sz="2700">
              <a:latin typeface="Lora SemiBold"/>
              <a:ea typeface="Lora SemiBold"/>
              <a:cs typeface="Lora SemiBold"/>
              <a:sym typeface="Lora SemiBold"/>
            </a:endParaRPr>
          </a:p>
        </p:txBody>
      </p:sp>
      <p:sp>
        <p:nvSpPr>
          <p:cNvPr id="69" name="Google Shape;69;p13"/>
          <p:cNvSpPr txBox="1"/>
          <p:nvPr>
            <p:ph idx="1" type="body"/>
          </p:nvPr>
        </p:nvSpPr>
        <p:spPr>
          <a:xfrm>
            <a:off x="571650" y="2156325"/>
            <a:ext cx="24246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l" sz="2000"/>
              <a:t>Nr indeksu: 97569</a:t>
            </a:r>
            <a:endParaRPr sz="2000"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571650" y="2881125"/>
            <a:ext cx="2424600" cy="72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l" sz="2000"/>
              <a:t>Grupa I2N 1.1/1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Opis metody personalizowanej klasteryzacji</a:t>
            </a:r>
            <a:endParaRPr sz="3200"/>
          </a:p>
        </p:txBody>
      </p:sp>
      <p:sp>
        <p:nvSpPr>
          <p:cNvPr id="76" name="Google Shape;76;p14"/>
          <p:cNvSpPr txBox="1"/>
          <p:nvPr>
            <p:ph idx="4294967295" type="body"/>
          </p:nvPr>
        </p:nvSpPr>
        <p:spPr>
          <a:xfrm>
            <a:off x="206200" y="704400"/>
            <a:ext cx="8740500" cy="414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200">
                <a:solidFill>
                  <a:srgbClr val="000000"/>
                </a:solidFill>
              </a:rPr>
              <a:t>Artykuł wprowadza koncepcję </a:t>
            </a:r>
            <a:r>
              <a:rPr b="1" lang="pl" sz="2200">
                <a:solidFill>
                  <a:srgbClr val="000000"/>
                </a:solidFill>
              </a:rPr>
              <a:t>personalizowanego klastrowania</a:t>
            </a:r>
            <a:r>
              <a:rPr lang="pl" sz="2200">
                <a:solidFill>
                  <a:srgbClr val="000000"/>
                </a:solidFill>
              </a:rPr>
              <a:t>, mającą na celu wypełnienie luki między niedokładnymi modelami ogólnymi a kosztownymi modelami indywidualnymi.</a:t>
            </a:r>
            <a:endParaRPr sz="22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l" sz="2200">
                <a:solidFill>
                  <a:srgbClr val="000000"/>
                </a:solidFill>
              </a:rPr>
              <a:t>Metodologia opiera się na </a:t>
            </a:r>
            <a:r>
              <a:rPr b="1" lang="pl" sz="2200">
                <a:solidFill>
                  <a:srgbClr val="000000"/>
                </a:solidFill>
              </a:rPr>
              <a:t>grupowaniu użytkowników w klastry o zbliżonych profilach reakcji emocjonalnych</a:t>
            </a:r>
            <a:r>
              <a:rPr lang="pl" sz="2200">
                <a:solidFill>
                  <a:srgbClr val="000000"/>
                </a:solidFill>
              </a:rPr>
              <a:t> i trenowaniu dla nich dedykowanych modeli.</a:t>
            </a:r>
            <a:r>
              <a:rPr lang="pl" sz="2200">
                <a:solidFill>
                  <a:srgbClr val="000000"/>
                </a:solidFill>
              </a:rPr>
              <a:t> Główną </a:t>
            </a:r>
            <a:r>
              <a:rPr lang="pl" sz="2200">
                <a:solidFill>
                  <a:srgbClr val="000000"/>
                </a:solidFill>
              </a:rPr>
              <a:t>zaletą tego rozwiązania jest </a:t>
            </a:r>
            <a:r>
              <a:rPr b="1" lang="pl" sz="2200">
                <a:solidFill>
                  <a:srgbClr val="000000"/>
                </a:solidFill>
              </a:rPr>
              <a:t>możliwość dynamicznego przypisywania nowych użytkowników do istniejących grup bez konieczności etykietowania ich danych</a:t>
            </a:r>
            <a:r>
              <a:rPr lang="pl" sz="2200">
                <a:solidFill>
                  <a:srgbClr val="000000"/>
                </a:solidFill>
              </a:rPr>
              <a:t>, co redukuje zmienność wyników i zwiększa niezawodność systemu.</a:t>
            </a:r>
            <a:endParaRPr b="1"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Etapy metodologii</a:t>
            </a:r>
            <a:endParaRPr sz="3200"/>
          </a:p>
        </p:txBody>
      </p:sp>
      <p:sp>
        <p:nvSpPr>
          <p:cNvPr id="82" name="Google Shape;82;p15"/>
          <p:cNvSpPr txBox="1"/>
          <p:nvPr>
            <p:ph idx="4294967295" type="body"/>
          </p:nvPr>
        </p:nvSpPr>
        <p:spPr>
          <a:xfrm>
            <a:off x="201850" y="783775"/>
            <a:ext cx="8723100" cy="42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AutoNum type="arabicPeriod"/>
            </a:pPr>
            <a:r>
              <a:rPr lang="pl" sz="2500">
                <a:solidFill>
                  <a:srgbClr val="000000"/>
                </a:solidFill>
              </a:rPr>
              <a:t>Przygotowanie danych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AutoNum type="arabicPeriod"/>
            </a:pPr>
            <a:r>
              <a:rPr lang="pl" sz="2500">
                <a:solidFill>
                  <a:srgbClr val="000000"/>
                </a:solidFill>
              </a:rPr>
              <a:t>Metodologia M1: Tworzenie typologii użytkowników</a:t>
            </a:r>
            <a:endParaRPr sz="2500">
              <a:solidFill>
                <a:srgbClr val="000000"/>
              </a:solidFill>
            </a:endParaRPr>
          </a:p>
          <a:p>
            <a:pPr indent="-3873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AutoNum type="alphaLcPeriod"/>
            </a:pPr>
            <a:r>
              <a:rPr lang="pl" sz="2500">
                <a:solidFill>
                  <a:srgbClr val="000000"/>
                </a:solidFill>
              </a:rPr>
              <a:t>Trenowanie modeli pół-personalizowanych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AutoNum type="arabicPeriod"/>
            </a:pPr>
            <a:r>
              <a:rPr lang="pl" sz="2500">
                <a:solidFill>
                  <a:srgbClr val="000000"/>
                </a:solidFill>
              </a:rPr>
              <a:t>Metodologia M2: Konfiguracja włączania użytkowników bez danych etykietowanych</a:t>
            </a:r>
            <a:endParaRPr sz="2500">
              <a:solidFill>
                <a:srgbClr val="000000"/>
              </a:solidFill>
            </a:endParaRPr>
          </a:p>
          <a:p>
            <a:pPr indent="-3873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AutoNum type="alphaLcPeriod"/>
            </a:pPr>
            <a:r>
              <a:rPr lang="pl" sz="2500">
                <a:solidFill>
                  <a:srgbClr val="000000"/>
                </a:solidFill>
              </a:rPr>
              <a:t>Faktyczne włączanie użytkowników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AutoNum type="arabicPeriod"/>
            </a:pPr>
            <a:r>
              <a:rPr lang="pl" sz="2500">
                <a:solidFill>
                  <a:srgbClr val="000000"/>
                </a:solidFill>
              </a:rPr>
              <a:t>Wnioskowanie i fuzja</a:t>
            </a:r>
            <a:endParaRPr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Przygotowanie danych</a:t>
            </a:r>
            <a:endParaRPr sz="3200"/>
          </a:p>
        </p:txBody>
      </p:sp>
      <p:sp>
        <p:nvSpPr>
          <p:cNvPr id="88" name="Google Shape;88;p16"/>
          <p:cNvSpPr txBox="1"/>
          <p:nvPr>
            <p:ph idx="4294967295" type="body"/>
          </p:nvPr>
        </p:nvSpPr>
        <p:spPr>
          <a:xfrm>
            <a:off x="201850" y="664150"/>
            <a:ext cx="8723100" cy="438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" sz="2200">
                <a:solidFill>
                  <a:srgbClr val="000000"/>
                </a:solidFill>
              </a:rPr>
              <a:t>Zanim nastąpi klastrowanie, surowe dane muszą zostać przetworzone, aby nadawały się do analizy przez algorytmy: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b="1" lang="pl" sz="2200">
                <a:solidFill>
                  <a:srgbClr val="000000"/>
                </a:solidFill>
              </a:rPr>
              <a:t>Ekstrakcja cech</a:t>
            </a:r>
            <a:r>
              <a:rPr lang="pl" sz="2200">
                <a:solidFill>
                  <a:srgbClr val="000000"/>
                </a:solidFill>
              </a:rPr>
              <a:t>: Z surowych sygnałów fizjologicznych pobieranych w </a:t>
            </a:r>
            <a:r>
              <a:rPr lang="pl" sz="2200">
                <a:solidFill>
                  <a:srgbClr val="000000"/>
                </a:solidFill>
              </a:rPr>
              <a:t>20-sekundowych</a:t>
            </a:r>
            <a:r>
              <a:rPr lang="pl" sz="2200">
                <a:solidFill>
                  <a:srgbClr val="000000"/>
                </a:solidFill>
              </a:rPr>
              <a:t> oknach obliczane jest </a:t>
            </a:r>
            <a:r>
              <a:rPr lang="pl" sz="2200">
                <a:solidFill>
                  <a:srgbClr val="000000"/>
                </a:solidFill>
              </a:rPr>
              <a:t>57 </a:t>
            </a:r>
            <a:r>
              <a:rPr lang="pl" sz="2200">
                <a:solidFill>
                  <a:srgbClr val="000000"/>
                </a:solidFill>
              </a:rPr>
              <a:t>cech statystycznych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b="1" lang="pl" sz="2200">
                <a:solidFill>
                  <a:srgbClr val="000000"/>
                </a:solidFill>
              </a:rPr>
              <a:t>Normalizacja</a:t>
            </a:r>
            <a:r>
              <a:rPr lang="pl" sz="2200">
                <a:solidFill>
                  <a:srgbClr val="000000"/>
                </a:solidFill>
              </a:rPr>
              <a:t>: Wszystkie cechy są poddawane standaryzacji Z-score (badanie odchylenia wartości od średniej) dla każdego </a:t>
            </a:r>
            <a:r>
              <a:rPr lang="pl" sz="2200">
                <a:solidFill>
                  <a:srgbClr val="000000"/>
                </a:solidFill>
              </a:rPr>
              <a:t>ochotnika</a:t>
            </a:r>
            <a:r>
              <a:rPr lang="pl" sz="2200">
                <a:solidFill>
                  <a:srgbClr val="000000"/>
                </a:solidFill>
              </a:rPr>
              <a:t>, aby wyeliminować różnice wynikające z osobniczych cech fizjologicznych.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Metodologia M1</a:t>
            </a:r>
            <a:endParaRPr sz="3200"/>
          </a:p>
        </p:txBody>
      </p:sp>
      <p:sp>
        <p:nvSpPr>
          <p:cNvPr id="94" name="Google Shape;94;p17"/>
          <p:cNvSpPr txBox="1"/>
          <p:nvPr>
            <p:ph idx="4294967295" type="body"/>
          </p:nvPr>
        </p:nvSpPr>
        <p:spPr>
          <a:xfrm>
            <a:off x="210450" y="814750"/>
            <a:ext cx="8723100" cy="4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700">
                <a:solidFill>
                  <a:srgbClr val="000000"/>
                </a:solidFill>
              </a:rPr>
              <a:t>Ten etap odbywa się na etapie treningu systemu, przy użyciu danych etykietowanych, w celu zdefiniowania bazowych profili (klastrów).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pl" sz="1700">
                <a:solidFill>
                  <a:srgbClr val="000000"/>
                </a:solidFill>
              </a:rPr>
              <a:t>Transformacja macierzy</a:t>
            </a:r>
            <a:r>
              <a:rPr lang="pl" sz="1700">
                <a:solidFill>
                  <a:srgbClr val="000000"/>
                </a:solidFill>
              </a:rPr>
              <a:t>: Mapa cech jest przekształcana w macierz profilowania użytkownika, gdzie dla każdego użytkownika obliczana jest średnia i odchylenie standardowe cech dla każdej klasy emocji.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pl" sz="1700">
                <a:solidFill>
                  <a:srgbClr val="000000"/>
                </a:solidFill>
              </a:rPr>
              <a:t>Wyszukiwanie klastrów typologii (TC)</a:t>
            </a:r>
            <a:r>
              <a:rPr lang="pl" sz="1700">
                <a:solidFill>
                  <a:srgbClr val="000000"/>
                </a:solidFill>
              </a:rPr>
              <a:t>: Przekształcona macierz jest poddawana klastrowaniu hierarchicznemu w celu znalezienia optymalnej liczby grup użytkowników </a:t>
            </a:r>
            <a:r>
              <a:rPr lang="pl" sz="1700">
                <a:solidFill>
                  <a:srgbClr val="000000"/>
                </a:solidFill>
              </a:rPr>
              <a:t>(typologii)</a:t>
            </a:r>
            <a:r>
              <a:rPr lang="pl" sz="1700">
                <a:solidFill>
                  <a:srgbClr val="000000"/>
                </a:solidFill>
              </a:rPr>
              <a:t> o podobnych reakcjach.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pl" sz="1700">
                <a:solidFill>
                  <a:srgbClr val="000000"/>
                </a:solidFill>
              </a:rPr>
              <a:t>Optymalizacja</a:t>
            </a:r>
            <a:r>
              <a:rPr lang="pl" sz="1700">
                <a:solidFill>
                  <a:srgbClr val="000000"/>
                </a:solidFill>
              </a:rPr>
              <a:t>: Poprzez wskaźnik Dunna oceniana jest jakość podziału i wymuszone zostaje, aby każdy klaster zawierał minimum 15% zbioru danych.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Metodologia M1, ciąg dalszy</a:t>
            </a:r>
            <a:endParaRPr sz="3200"/>
          </a:p>
        </p:txBody>
      </p:sp>
      <p:sp>
        <p:nvSpPr>
          <p:cNvPr id="100" name="Google Shape;100;p18"/>
          <p:cNvSpPr txBox="1"/>
          <p:nvPr>
            <p:ph idx="4294967295" type="body"/>
          </p:nvPr>
        </p:nvSpPr>
        <p:spPr>
          <a:xfrm>
            <a:off x="210450" y="814750"/>
            <a:ext cx="8723100" cy="4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2400">
                <a:solidFill>
                  <a:srgbClr val="000000"/>
                </a:solidFill>
              </a:rPr>
              <a:t>Po zdefiniowaniu klastrów tworzone są dedykowane modele sztucznej inteligencji.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pl" sz="2400">
                <a:solidFill>
                  <a:srgbClr val="000000"/>
                </a:solidFill>
              </a:rPr>
              <a:t>Przypisanie danych</a:t>
            </a:r>
            <a:r>
              <a:rPr lang="pl" sz="2400">
                <a:solidFill>
                  <a:srgbClr val="000000"/>
                </a:solidFill>
              </a:rPr>
              <a:t>: Wszyscy użytkownicy są przypisani do konkretnych klastrów typologii (TC).</a:t>
            </a:r>
            <a:endParaRPr sz="2400">
              <a:solidFill>
                <a:srgbClr val="000000"/>
              </a:solidFill>
            </a:endParaRPr>
          </a:p>
          <a:p>
            <a:pPr indent="-3810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b="1" lang="pl" sz="2400">
                <a:solidFill>
                  <a:srgbClr val="000000"/>
                </a:solidFill>
              </a:rPr>
              <a:t>Trenowanie</a:t>
            </a:r>
            <a:r>
              <a:rPr lang="pl" sz="2400">
                <a:solidFill>
                  <a:srgbClr val="000000"/>
                </a:solidFill>
              </a:rPr>
              <a:t>: Dla każdego klastra typologii trenowany jest oddzielny model klasyfikacyjny (KNN), który jest pół-personalizowany</a:t>
            </a:r>
            <a:endParaRPr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Metodologia M2</a:t>
            </a:r>
            <a:endParaRPr sz="3200"/>
          </a:p>
        </p:txBody>
      </p:sp>
      <p:sp>
        <p:nvSpPr>
          <p:cNvPr id="106" name="Google Shape;106;p19"/>
          <p:cNvSpPr txBox="1"/>
          <p:nvPr>
            <p:ph idx="4294967295" type="body"/>
          </p:nvPr>
        </p:nvSpPr>
        <p:spPr>
          <a:xfrm>
            <a:off x="210450" y="814750"/>
            <a:ext cx="8723100" cy="4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Aby system mógł przyjmować nowych użytkowników, którzy nie dostarczają pełnych profili statystycznych (tj. nie mają etykietowanych danych), konieczne jest </a:t>
            </a:r>
            <a:r>
              <a:rPr b="1"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stworzenie klastrów wewnętrznych (IC)</a:t>
            </a: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Wewnątrz każdego klastra typologii (TC) algorytm ponownie klastruje dane treningowe, tworząc klastry wewnętrzne.</a:t>
            </a:r>
            <a:endParaRPr sz="2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Metodologia M2, ciąg dalszy</a:t>
            </a:r>
            <a:endParaRPr sz="3200"/>
          </a:p>
        </p:txBody>
      </p:sp>
      <p:sp>
        <p:nvSpPr>
          <p:cNvPr id="112" name="Google Shape;112;p20"/>
          <p:cNvSpPr txBox="1"/>
          <p:nvPr>
            <p:ph idx="4294967295" type="body"/>
          </p:nvPr>
        </p:nvSpPr>
        <p:spPr>
          <a:xfrm>
            <a:off x="210450" y="814750"/>
            <a:ext cx="8723100" cy="4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Dodawanie nowych użytkowników do aktywnego systemu jest dokonywane poprzez </a:t>
            </a:r>
            <a:r>
              <a:rPr b="1"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obliczenie odległości ich obserwacji do najbliższych klastrów wewnętrznych</a:t>
            </a: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(IC) w ramach każdego klastra typologii (TC).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l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Użytkownicy zostają przypisani do tego klastra typologii (i odpowiadającego mu modelu AI), dla którego suma odległości była najmniejsza.</a:t>
            </a:r>
            <a:endParaRPr sz="2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Wnioskowanie i fuzja</a:t>
            </a:r>
            <a:endParaRPr sz="3200"/>
          </a:p>
        </p:txBody>
      </p:sp>
      <p:sp>
        <p:nvSpPr>
          <p:cNvPr id="118" name="Google Shape;118;p21"/>
          <p:cNvSpPr txBox="1"/>
          <p:nvPr>
            <p:ph idx="4294967295" type="body"/>
          </p:nvPr>
        </p:nvSpPr>
        <p:spPr>
          <a:xfrm>
            <a:off x="210450" y="814750"/>
            <a:ext cx="8723100" cy="41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 skutecznym przypisaniu użytkownika do klastra, system uruchamia dedykowany pół-personalizowany model AI (wytrenowany na danej typologii) w celu dokonania finalnej klasyfikacji emocji.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Aby zapewnić większą niezawodność, </a:t>
            </a:r>
            <a:r>
              <a:rPr b="1"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wynik ten może być połączony z predykcją modelu ogólnego</a:t>
            </a:r>
            <a:r>
              <a:rPr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przy użyciu techniki </a:t>
            </a:r>
            <a:r>
              <a:rPr b="1"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późnej fuzji</a:t>
            </a:r>
            <a:r>
              <a:rPr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l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Mechanizm ten pozwala na dynamiczne ważenie decyzji obu modeli, co koryguje ewentualne błędy w przypadku, gdy przypisanie do typologii jest niejednoznaczne lub klaster jest słabiej zdefiniowany.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0" y="0"/>
            <a:ext cx="88266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Implementacja - M1, przetwarzanie danych</a:t>
            </a:r>
            <a:endParaRPr sz="3200"/>
          </a:p>
        </p:txBody>
      </p:sp>
      <p:sp>
        <p:nvSpPr>
          <p:cNvPr id="124" name="Google Shape;124;p22"/>
          <p:cNvSpPr txBox="1"/>
          <p:nvPr/>
        </p:nvSpPr>
        <p:spPr>
          <a:xfrm>
            <a:off x="5373350" y="659100"/>
            <a:ext cx="3770700" cy="448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pl" sz="1900"/>
              <a:t>Wzięcie macierzy surowych obserwacji </a:t>
            </a:r>
            <a:r>
              <a:rPr i="1" lang="pl" sz="1900"/>
              <a:t>D</a:t>
            </a:r>
            <a:r>
              <a:rPr lang="pl" sz="1900"/>
              <a:t> </a:t>
            </a:r>
            <a:r>
              <a:rPr i="1" lang="pl" sz="1900"/>
              <a:t>(O x F)</a:t>
            </a:r>
            <a:endParaRPr i="1"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pl" sz="1900"/>
              <a:t>Obliczenie średniej i odchylenia standardowego dla każdej cechy, pogrupowane według ID użytkownika i klasy emocji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pl" sz="1900"/>
              <a:t>Przekształcenie danych tak, aby jeden wiersz reprezentował jednego użytkownika</a:t>
            </a:r>
            <a:endParaRPr sz="19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rabicPeriod"/>
            </a:pPr>
            <a:r>
              <a:rPr lang="pl" sz="1900"/>
              <a:t>Utworzenie finalnej macierzy </a:t>
            </a:r>
            <a:r>
              <a:rPr i="1" lang="pl" sz="1900"/>
              <a:t>D’</a:t>
            </a:r>
            <a:r>
              <a:rPr lang="pl" sz="1900"/>
              <a:t> </a:t>
            </a:r>
            <a:r>
              <a:rPr i="1" lang="pl" sz="1900"/>
              <a:t>(N x M)</a:t>
            </a:r>
            <a:endParaRPr i="1" sz="1900"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8988"/>
            <a:ext cx="5373350" cy="3484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0" y="0"/>
            <a:ext cx="88266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Implementacja - M2, wskaźnik Dunna</a:t>
            </a:r>
            <a:endParaRPr sz="3200"/>
          </a:p>
        </p:txBody>
      </p:sp>
      <p:sp>
        <p:nvSpPr>
          <p:cNvPr id="131" name="Google Shape;131;p23"/>
          <p:cNvSpPr txBox="1"/>
          <p:nvPr/>
        </p:nvSpPr>
        <p:spPr>
          <a:xfrm>
            <a:off x="5006025" y="659100"/>
            <a:ext cx="4137900" cy="448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Obliczenie macierzy odległości euklidesowych między każdą parą punktów w zbiorze danych </a:t>
            </a:r>
            <a:r>
              <a:rPr i="1" lang="pl" sz="1600"/>
              <a:t>D</a:t>
            </a:r>
            <a:endParaRPr i="1"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Obliczenie mianownika (zwartość), tj. znalezienie maksymalnej średnicy klastra (najw. odl. między dwoma punktami wewnątrz tej samej grupy)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Obliczenie licznika (separacja), tj. znalezienie minimalnej odległości międzyklastrowej (czyli między dwoma najbliższymi punktami z różnych grup)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Zwrócenie ilorazu minimalnej separacji i maksymalnej średnicy (im wyższy wynik, tym lepsze klastrowanie)</a:t>
            </a:r>
            <a:endParaRPr sz="1600"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13050"/>
            <a:ext cx="5006026" cy="3730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7725" y="659100"/>
            <a:ext cx="2030575" cy="75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0" y="0"/>
            <a:ext cx="88266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Implementacja - M2, szukanie klastrów</a:t>
            </a:r>
            <a:endParaRPr sz="3200"/>
          </a:p>
        </p:txBody>
      </p:sp>
      <p:sp>
        <p:nvSpPr>
          <p:cNvPr id="139" name="Google Shape;139;p24"/>
          <p:cNvSpPr txBox="1"/>
          <p:nvPr/>
        </p:nvSpPr>
        <p:spPr>
          <a:xfrm>
            <a:off x="4279500" y="659100"/>
            <a:ext cx="4864500" cy="448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Obliczenie minimalnej wymaganej liczby użytkowników w klastrze, aby uniknąć zbyt małych grup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Testowanie podziałów na od 2 do 10 grup przy użyciu klastrowania hierarchicznego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Identyfikowanie zbyt małych pod względem liczby użytkowników grup i przyłączenie ich do najbliższego dużego klastra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Obliczenie wskaźnika Dunna dla skorygowanego podziału w celu zmierzenia, jak dobrze odseparowane i zwarte są grupy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Zwrócenie podziału, który uzyskał najwyższy wskaźnik jakości (najwyższy wskaźnik Dunna)</a:t>
            </a:r>
            <a:endParaRPr sz="16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9100"/>
            <a:ext cx="4279500" cy="448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0" y="0"/>
            <a:ext cx="88266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Implementacja - M2, klastry </a:t>
            </a:r>
            <a:r>
              <a:rPr lang="pl" sz="3200"/>
              <a:t>wewnętrzne</a:t>
            </a:r>
            <a:endParaRPr sz="3200"/>
          </a:p>
        </p:txBody>
      </p:sp>
      <p:sp>
        <p:nvSpPr>
          <p:cNvPr id="146" name="Google Shape;146;p25"/>
          <p:cNvSpPr txBox="1"/>
          <p:nvPr/>
        </p:nvSpPr>
        <p:spPr>
          <a:xfrm>
            <a:off x="5029850" y="659100"/>
            <a:ext cx="4114200" cy="448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Identyfikacja unikalnych klastrów typologii (TC), które zostały utworzone w etapie M1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Wyodrębnienie ze zbioru treningowego surowych obserwacji (cech) należących wyłącznie do aktualnie przetwarzanego klastra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Podział danych wewnątrz każdego klastra na mniejsze podgrupy (klastry wewnętrzne [IC]), przy użyciu algorytmu k-średnich</a:t>
            </a:r>
            <a:endParaRPr sz="1600"/>
          </a:p>
          <a:p>
            <a:pPr indent="-330200" lvl="0" marL="457200" rtl="0" algn="just"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pl" sz="1600"/>
              <a:t>Obliczenie i zapisanie centroidów klastrów wewnętrznych jako punktów odniesienia w przestrzeni cech, służących do dopasowywania nowych użytkowników w fazie włączania</a:t>
            </a:r>
            <a:endParaRPr sz="1600"/>
          </a:p>
        </p:txBody>
      </p:sp>
      <p:pic>
        <p:nvPicPr>
          <p:cNvPr id="147" name="Google Shape;14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3063"/>
            <a:ext cx="5029849" cy="4056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0" y="0"/>
            <a:ext cx="91440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Implementacja - M2, przypisywanie użytkownika</a:t>
            </a:r>
            <a:endParaRPr sz="3200"/>
          </a:p>
        </p:txBody>
      </p:sp>
      <p:sp>
        <p:nvSpPr>
          <p:cNvPr id="153" name="Google Shape;153;p26"/>
          <p:cNvSpPr txBox="1"/>
          <p:nvPr/>
        </p:nvSpPr>
        <p:spPr>
          <a:xfrm>
            <a:off x="4935675" y="659100"/>
            <a:ext cx="4208400" cy="4484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pl" sz="1500"/>
              <a:t>Obliczenie macierzy odległości pomiędzy każdą obserwacją nowego użytkownika a wszystkimi centroidami klastrów wewnętrznych (IC) w ramach analizowanego klastra typologii</a:t>
            </a:r>
            <a:endParaRPr sz="1500"/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pl" sz="1500"/>
              <a:t>Wyznaczenie minimalnej odległości dla każdej pojedynczej obserwacji do najbliższego centroidu</a:t>
            </a:r>
            <a:endParaRPr sz="1500"/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pl" sz="1500"/>
              <a:t>Agregacja wyników poprzez zsumowanie minimalnych odległości, co stanowi całkowitą miarę dopasowania użytkownika do danej typologii</a:t>
            </a:r>
            <a:endParaRPr sz="1500"/>
          </a:p>
          <a:p>
            <a:pPr indent="-323850" lvl="0" marL="457200" rtl="0" algn="just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lang="pl" sz="1500"/>
              <a:t>Przypisanie użytkownika do tego klastra typologii (TC), dla którego obliczona suma odległości była najmniejsza</a:t>
            </a:r>
            <a:endParaRPr sz="1600"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34175"/>
            <a:ext cx="4935674" cy="3534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type="title"/>
          </p:nvPr>
        </p:nvSpPr>
        <p:spPr>
          <a:xfrm>
            <a:off x="0" y="0"/>
            <a:ext cx="91440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Symulacja - dane i profilowanie</a:t>
            </a:r>
            <a:endParaRPr sz="3200"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59100"/>
            <a:ext cx="4294654" cy="44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697" y="988075"/>
            <a:ext cx="3075253" cy="18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5726" y="3253650"/>
            <a:ext cx="3327205" cy="188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2500" y="2802375"/>
            <a:ext cx="3995050" cy="42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2175" y="659100"/>
            <a:ext cx="3995700" cy="30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0" y="0"/>
            <a:ext cx="91440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Symulacja - klastry typologii i wewnętrzne</a:t>
            </a:r>
            <a:endParaRPr sz="3200"/>
          </a:p>
        </p:txBody>
      </p:sp>
      <p:pic>
        <p:nvPicPr>
          <p:cNvPr id="170" name="Google Shape;1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313" y="1224763"/>
            <a:ext cx="1037725" cy="140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3875" y="2673175"/>
            <a:ext cx="4029550" cy="396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3872" y="659100"/>
            <a:ext cx="4029550" cy="52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185000"/>
            <a:ext cx="5113874" cy="3085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3875" y="3199075"/>
            <a:ext cx="4029550" cy="151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0" y="0"/>
            <a:ext cx="91440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200"/>
              <a:t>Symulacja - dodanie nowego użytkownika</a:t>
            </a:r>
            <a:endParaRPr sz="3200"/>
          </a:p>
        </p:txBody>
      </p:sp>
      <p:pic>
        <p:nvPicPr>
          <p:cNvPr id="180" name="Google Shape;180;p29"/>
          <p:cNvPicPr preferRelativeResize="0"/>
          <p:nvPr/>
        </p:nvPicPr>
        <p:blipFill rotWithShape="1">
          <a:blip r:embed="rId3">
            <a:alphaModFix/>
          </a:blip>
          <a:srcRect b="15957" l="0" r="0" t="15228"/>
          <a:stretch/>
        </p:blipFill>
        <p:spPr>
          <a:xfrm>
            <a:off x="0" y="659100"/>
            <a:ext cx="5574625" cy="194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6775" y="2662487"/>
            <a:ext cx="4657201" cy="13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86777" y="4701198"/>
            <a:ext cx="4657199" cy="38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6775" y="4063850"/>
            <a:ext cx="4657201" cy="550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Dziękuję za uwagę!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