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5143500" cx="9144000"/>
  <p:notesSz cx="6858000" cy="9144000"/>
  <p:embeddedFontLst>
    <p:embeddedFont>
      <p:font typeface="Roboto"/>
      <p:regular r:id="rId24"/>
      <p:bold r:id="rId25"/>
      <p:italic r:id="rId26"/>
      <p:boldItalic r:id="rId27"/>
    </p:embeddedFont>
    <p:embeddedFont>
      <p:font typeface="Lora SemiBold"/>
      <p:regular r:id="rId28"/>
      <p:bold r:id="rId29"/>
      <p:italic r:id="rId30"/>
      <p:boldItalic r:id="rId3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Roboto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Roboto-italic.fntdata"/><Relationship Id="rId25" Type="http://schemas.openxmlformats.org/officeDocument/2006/relationships/font" Target="fonts/Roboto-bold.fntdata"/><Relationship Id="rId28" Type="http://schemas.openxmlformats.org/officeDocument/2006/relationships/font" Target="fonts/LoraSemiBold-regular.fntdata"/><Relationship Id="rId27" Type="http://schemas.openxmlformats.org/officeDocument/2006/relationships/font" Target="fonts/Roboto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LoraSemiBold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LoraSemiBold-boldItalic.fntdata"/><Relationship Id="rId30" Type="http://schemas.openxmlformats.org/officeDocument/2006/relationships/font" Target="fonts/LoraSemiBold-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9ace342f6d_0_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9ace342f6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9b9e2f34b4_0_8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9b9e2f34b4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9b9e2f34b4_1_2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9b9e2f34b4_1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9bde826295_0_3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9bde826295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9bde826295_0_8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9bde826295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a80f0d1a4c_0_15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a80f0d1a4c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a80f0d1a4c_0_21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a80f0d1a4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a80f0d1a4c_0_3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a80f0d1a4c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a80f0d1a4c_0_36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a80f0d1a4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a84e838873_0_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a84e83887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a84e838873_1_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a84e838873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a84e838873_1_13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a84e838873_1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a84e838873_1_21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a84e838873_1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a84e838873_1_34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a84e838873_1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a8f81edecc_0_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a8f81edec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a8f81edecc_0_12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a8f81edecc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a8f81edecc_0_3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a8f81edecc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c6f73a04f_0_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c6f73a04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flipH="1">
            <a:off x="8246400" y="4245925"/>
            <a:ext cx="897600" cy="8976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8246400" y="4245875"/>
            <a:ext cx="897600" cy="897600"/>
          </a:xfrm>
          <a:prstGeom prst="round1Rect">
            <a:avLst>
              <a:gd fmla="val 16667" name="adj"/>
            </a:avLst>
          </a:prstGeom>
          <a:solidFill>
            <a:schemeClr val="lt1">
              <a:alpha val="6808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 txBox="1"/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 flipH="1" rot="10800000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4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4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" type="body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/>
          <p:nvPr/>
        </p:nvSpPr>
        <p:spPr>
          <a:xfrm flipH="1" rot="10800000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5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5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" type="body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5"/>
          <p:cNvSpPr txBox="1"/>
          <p:nvPr>
            <p:ph idx="2" type="body"/>
          </p:nvPr>
        </p:nvSpPr>
        <p:spPr>
          <a:xfrm>
            <a:off x="4694250" y="1919075"/>
            <a:ext cx="39999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0" name="Google Shape;30;p5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/>
          <p:nvPr/>
        </p:nvSpPr>
        <p:spPr>
          <a:xfrm flipH="1" rot="10800000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6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6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/>
        </p:nvSpPr>
        <p:spPr>
          <a:xfrm flipH="1" rot="10800000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7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7"/>
          <p:cNvSpPr txBox="1"/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0" name="Google Shape;40;p7"/>
          <p:cNvSpPr txBox="1"/>
          <p:nvPr>
            <p:ph idx="1" type="body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" name="Google Shape;41;p7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>
            <p:ph type="title"/>
          </p:nvPr>
        </p:nvSpPr>
        <p:spPr>
          <a:xfrm>
            <a:off x="490250" y="488250"/>
            <a:ext cx="62271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44" name="Google Shape;44;p8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9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49" name="Google Shape;49;p9"/>
          <p:cNvSpPr txBox="1"/>
          <p:nvPr>
            <p:ph idx="1" type="subTitle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0" name="Google Shape;50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1" name="Google Shape;51;p9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0"/>
          <p:cNvSpPr txBox="1"/>
          <p:nvPr/>
        </p:nvSpPr>
        <p:spPr>
          <a:xfrm flipH="1" rot="10800000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10"/>
          <p:cNvSpPr/>
          <p:nvPr/>
        </p:nvSpPr>
        <p:spPr>
          <a:xfrm flipH="1" rot="10800000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10"/>
          <p:cNvSpPr txBox="1"/>
          <p:nvPr>
            <p:ph idx="1" type="body"/>
          </p:nvPr>
        </p:nvSpPr>
        <p:spPr>
          <a:xfrm>
            <a:off x="57150" y="4696825"/>
            <a:ext cx="8382000" cy="44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/>
        </p:txBody>
      </p:sp>
      <p:sp>
        <p:nvSpPr>
          <p:cNvPr id="56" name="Google Shape;56;p10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4"/>
        </a:solid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1"/>
          <p:cNvSpPr txBox="1"/>
          <p:nvPr>
            <p:ph hasCustomPrompt="1" type="title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" name="Google Shape;59;p11"/>
          <p:cNvSpPr txBox="1"/>
          <p:nvPr>
            <p:ph idx="1" type="body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0" name="Google Shape;60;p11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chemeClr val="accent4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aterial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7.png"/><Relationship Id="rId7" Type="http://schemas.openxmlformats.org/officeDocument/2006/relationships/image" Target="../media/image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15.png"/><Relationship Id="rId5" Type="http://schemas.openxmlformats.org/officeDocument/2006/relationships/image" Target="../media/image2.png"/><Relationship Id="rId6" Type="http://schemas.openxmlformats.org/officeDocument/2006/relationships/image" Target="../media/image17.png"/><Relationship Id="rId7" Type="http://schemas.openxmlformats.org/officeDocument/2006/relationships/image" Target="../media/image1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Relationship Id="rId4" Type="http://schemas.openxmlformats.org/officeDocument/2006/relationships/image" Target="../media/image5.png"/><Relationship Id="rId5" Type="http://schemas.openxmlformats.org/officeDocument/2006/relationships/image" Target="../media/image16.png"/><Relationship Id="rId6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571650" y="1537550"/>
            <a:ext cx="2424600" cy="72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pl" sz="2000"/>
              <a:t>Adam Bogusz</a:t>
            </a:r>
            <a:endParaRPr sz="2000"/>
          </a:p>
        </p:txBody>
      </p:sp>
      <p:sp>
        <p:nvSpPr>
          <p:cNvPr id="68" name="Google Shape;68;p13"/>
          <p:cNvSpPr txBox="1"/>
          <p:nvPr/>
        </p:nvSpPr>
        <p:spPr>
          <a:xfrm>
            <a:off x="3345000" y="1665075"/>
            <a:ext cx="5799000" cy="170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l" sz="2700">
                <a:latin typeface="Lora SemiBold"/>
                <a:ea typeface="Lora SemiBold"/>
                <a:cs typeface="Lora SemiBold"/>
                <a:sym typeface="Lora SemiBold"/>
              </a:rPr>
              <a:t>Personalized Clustering</a:t>
            </a:r>
            <a:br>
              <a:rPr lang="pl" sz="2700">
                <a:latin typeface="Lora SemiBold"/>
                <a:ea typeface="Lora SemiBold"/>
                <a:cs typeface="Lora SemiBold"/>
                <a:sym typeface="Lora SemiBold"/>
              </a:rPr>
            </a:br>
            <a:r>
              <a:rPr lang="pl" sz="2700">
                <a:latin typeface="Lora SemiBold"/>
                <a:ea typeface="Lora SemiBold"/>
                <a:cs typeface="Lora SemiBold"/>
                <a:sym typeface="Lora SemiBold"/>
              </a:rPr>
              <a:t>for Emotion Recognition Improvement</a:t>
            </a:r>
            <a:endParaRPr sz="2700">
              <a:latin typeface="Lora SemiBold"/>
              <a:ea typeface="Lora SemiBold"/>
              <a:cs typeface="Lora SemiBold"/>
              <a:sym typeface="Lora SemiBold"/>
            </a:endParaRPr>
          </a:p>
        </p:txBody>
      </p:sp>
      <p:sp>
        <p:nvSpPr>
          <p:cNvPr id="69" name="Google Shape;69;p13"/>
          <p:cNvSpPr txBox="1"/>
          <p:nvPr>
            <p:ph idx="1" type="body"/>
          </p:nvPr>
        </p:nvSpPr>
        <p:spPr>
          <a:xfrm>
            <a:off x="571650" y="2156325"/>
            <a:ext cx="2424600" cy="72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pl" sz="2000"/>
              <a:t>Nr indeksu: 97569</a:t>
            </a:r>
            <a:endParaRPr sz="2000"/>
          </a:p>
        </p:txBody>
      </p:sp>
      <p:sp>
        <p:nvSpPr>
          <p:cNvPr id="70" name="Google Shape;70;p13"/>
          <p:cNvSpPr txBox="1"/>
          <p:nvPr>
            <p:ph idx="1" type="body"/>
          </p:nvPr>
        </p:nvSpPr>
        <p:spPr>
          <a:xfrm>
            <a:off x="571650" y="2881125"/>
            <a:ext cx="2424600" cy="72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pl" sz="2000"/>
              <a:t>Grupa I2N 1.1/1</a:t>
            </a:r>
            <a:endParaRPr sz="2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4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3200"/>
              <a:t>Opis metody personalizowanej klasteryzacji</a:t>
            </a:r>
            <a:endParaRPr sz="3200"/>
          </a:p>
        </p:txBody>
      </p:sp>
      <p:sp>
        <p:nvSpPr>
          <p:cNvPr id="76" name="Google Shape;76;p14"/>
          <p:cNvSpPr txBox="1"/>
          <p:nvPr>
            <p:ph idx="4294967295" type="body"/>
          </p:nvPr>
        </p:nvSpPr>
        <p:spPr>
          <a:xfrm>
            <a:off x="206200" y="704400"/>
            <a:ext cx="8740500" cy="4146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2200">
                <a:solidFill>
                  <a:srgbClr val="000000"/>
                </a:solidFill>
              </a:rPr>
              <a:t>Artykuł wprowadza koncepcję </a:t>
            </a:r>
            <a:r>
              <a:rPr b="1" lang="pl" sz="2200">
                <a:solidFill>
                  <a:srgbClr val="000000"/>
                </a:solidFill>
              </a:rPr>
              <a:t>personalizowanego klastrowania</a:t>
            </a:r>
            <a:r>
              <a:rPr lang="pl" sz="2200">
                <a:solidFill>
                  <a:srgbClr val="000000"/>
                </a:solidFill>
              </a:rPr>
              <a:t>, mającą na celu wypełnienie luki między niedokładnymi modelami ogólnymi a kosztownymi modelami indywidualnymi.</a:t>
            </a:r>
            <a:endParaRPr sz="2200">
              <a:solidFill>
                <a:srgbClr val="000000"/>
              </a:solidFill>
            </a:endParaRPr>
          </a:p>
          <a:p>
            <a:pPr indent="0" lvl="0" marL="0" rtl="0" algn="just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</a:pPr>
            <a:r>
              <a:rPr lang="pl" sz="2200">
                <a:solidFill>
                  <a:srgbClr val="000000"/>
                </a:solidFill>
              </a:rPr>
              <a:t>Metodologia opiera się na </a:t>
            </a:r>
            <a:r>
              <a:rPr b="1" lang="pl" sz="2200">
                <a:solidFill>
                  <a:srgbClr val="000000"/>
                </a:solidFill>
              </a:rPr>
              <a:t>grupowaniu użytkowników w klastry o zbliżonych profilach reakcji emocjonalnych</a:t>
            </a:r>
            <a:r>
              <a:rPr lang="pl" sz="2200">
                <a:solidFill>
                  <a:srgbClr val="000000"/>
                </a:solidFill>
              </a:rPr>
              <a:t> i trenowaniu dla nich dedykowanych modeli.</a:t>
            </a:r>
            <a:r>
              <a:rPr lang="pl" sz="2200">
                <a:solidFill>
                  <a:srgbClr val="000000"/>
                </a:solidFill>
              </a:rPr>
              <a:t> Główną </a:t>
            </a:r>
            <a:r>
              <a:rPr lang="pl" sz="2200">
                <a:solidFill>
                  <a:srgbClr val="000000"/>
                </a:solidFill>
              </a:rPr>
              <a:t>zaletą tego rozwiązania jest </a:t>
            </a:r>
            <a:r>
              <a:rPr b="1" lang="pl" sz="2200">
                <a:solidFill>
                  <a:srgbClr val="000000"/>
                </a:solidFill>
              </a:rPr>
              <a:t>możliwość dynamicznego przypisywania nowych użytkowników do istniejących grup bez konieczności etykietowania ich danych</a:t>
            </a:r>
            <a:r>
              <a:rPr lang="pl" sz="2200">
                <a:solidFill>
                  <a:srgbClr val="000000"/>
                </a:solidFill>
              </a:rPr>
              <a:t>, co redukuje zmienność wyników i zwiększa niezawodność systemu.</a:t>
            </a:r>
            <a:endParaRPr b="1" sz="22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3200"/>
              <a:t>Etapy metodologii</a:t>
            </a:r>
            <a:endParaRPr sz="3200"/>
          </a:p>
        </p:txBody>
      </p:sp>
      <p:sp>
        <p:nvSpPr>
          <p:cNvPr id="82" name="Google Shape;82;p15"/>
          <p:cNvSpPr txBox="1"/>
          <p:nvPr>
            <p:ph idx="4294967295" type="body"/>
          </p:nvPr>
        </p:nvSpPr>
        <p:spPr>
          <a:xfrm>
            <a:off x="201850" y="783775"/>
            <a:ext cx="8723100" cy="4264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8735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AutoNum type="arabicPeriod"/>
            </a:pPr>
            <a:r>
              <a:rPr lang="pl" sz="2500">
                <a:solidFill>
                  <a:srgbClr val="000000"/>
                </a:solidFill>
              </a:rPr>
              <a:t>Przygotowanie danych</a:t>
            </a:r>
            <a:endParaRPr sz="2500">
              <a:solidFill>
                <a:srgbClr val="000000"/>
              </a:solidFill>
            </a:endParaRPr>
          </a:p>
          <a:p>
            <a:pPr indent="-38735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AutoNum type="arabicPeriod"/>
            </a:pPr>
            <a:r>
              <a:rPr lang="pl" sz="2500">
                <a:solidFill>
                  <a:srgbClr val="000000"/>
                </a:solidFill>
              </a:rPr>
              <a:t>Metodologia M1: Tworzenie typologii użytkowników</a:t>
            </a:r>
            <a:endParaRPr sz="2500">
              <a:solidFill>
                <a:srgbClr val="000000"/>
              </a:solidFill>
            </a:endParaRPr>
          </a:p>
          <a:p>
            <a:pPr indent="-387350" lvl="1" marL="9144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AutoNum type="alphaLcPeriod"/>
            </a:pPr>
            <a:r>
              <a:rPr lang="pl" sz="2500">
                <a:solidFill>
                  <a:srgbClr val="000000"/>
                </a:solidFill>
              </a:rPr>
              <a:t>Trenowanie modeli pół-personalizowanych</a:t>
            </a:r>
            <a:endParaRPr sz="2500">
              <a:solidFill>
                <a:srgbClr val="000000"/>
              </a:solidFill>
            </a:endParaRPr>
          </a:p>
          <a:p>
            <a:pPr indent="-38735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AutoNum type="arabicPeriod"/>
            </a:pPr>
            <a:r>
              <a:rPr lang="pl" sz="2500">
                <a:solidFill>
                  <a:srgbClr val="000000"/>
                </a:solidFill>
              </a:rPr>
              <a:t>Metodologia M2: Konfiguracja włączania użytkowników bez danych etykietowanych</a:t>
            </a:r>
            <a:endParaRPr sz="2500">
              <a:solidFill>
                <a:srgbClr val="000000"/>
              </a:solidFill>
            </a:endParaRPr>
          </a:p>
          <a:p>
            <a:pPr indent="-387350" lvl="1" marL="9144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AutoNum type="alphaLcPeriod"/>
            </a:pPr>
            <a:r>
              <a:rPr lang="pl" sz="2500">
                <a:solidFill>
                  <a:srgbClr val="000000"/>
                </a:solidFill>
              </a:rPr>
              <a:t>Faktyczne włączanie użytkowników</a:t>
            </a:r>
            <a:endParaRPr sz="2500">
              <a:solidFill>
                <a:srgbClr val="000000"/>
              </a:solidFill>
            </a:endParaRPr>
          </a:p>
          <a:p>
            <a:pPr indent="-387350" lvl="0" marL="4572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AutoNum type="arabicPeriod"/>
            </a:pPr>
            <a:r>
              <a:rPr lang="pl" sz="2500">
                <a:solidFill>
                  <a:srgbClr val="000000"/>
                </a:solidFill>
              </a:rPr>
              <a:t>Wnioskowanie i fuzja</a:t>
            </a:r>
            <a:endParaRPr sz="25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6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3200"/>
              <a:t>Przygotowanie danych</a:t>
            </a:r>
            <a:endParaRPr sz="3200"/>
          </a:p>
        </p:txBody>
      </p:sp>
      <p:sp>
        <p:nvSpPr>
          <p:cNvPr id="88" name="Google Shape;88;p16"/>
          <p:cNvSpPr txBox="1"/>
          <p:nvPr>
            <p:ph idx="4294967295" type="body"/>
          </p:nvPr>
        </p:nvSpPr>
        <p:spPr>
          <a:xfrm>
            <a:off x="201850" y="664150"/>
            <a:ext cx="8723100" cy="4384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pl" sz="2200">
                <a:solidFill>
                  <a:srgbClr val="000000"/>
                </a:solidFill>
              </a:rPr>
              <a:t>Zanim nastąpi klastrowanie, surowe dane muszą zostać przetworzone, aby nadawały się do analizy przez algorytmy:</a:t>
            </a:r>
            <a:endParaRPr sz="2200">
              <a:solidFill>
                <a:srgbClr val="000000"/>
              </a:solidFill>
            </a:endParaRPr>
          </a:p>
          <a:p>
            <a:pPr indent="-36830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Char char="●"/>
            </a:pPr>
            <a:r>
              <a:rPr b="1" lang="pl" sz="2200">
                <a:solidFill>
                  <a:srgbClr val="000000"/>
                </a:solidFill>
              </a:rPr>
              <a:t>Ekstrakcja cech</a:t>
            </a:r>
            <a:r>
              <a:rPr lang="pl" sz="2200">
                <a:solidFill>
                  <a:srgbClr val="000000"/>
                </a:solidFill>
              </a:rPr>
              <a:t>: Z surowych sygnałów fizjologicznych pobieranych w </a:t>
            </a:r>
            <a:r>
              <a:rPr lang="pl" sz="2200">
                <a:solidFill>
                  <a:srgbClr val="000000"/>
                </a:solidFill>
              </a:rPr>
              <a:t>20-sekundowych</a:t>
            </a:r>
            <a:r>
              <a:rPr lang="pl" sz="2200">
                <a:solidFill>
                  <a:srgbClr val="000000"/>
                </a:solidFill>
              </a:rPr>
              <a:t> oknach obliczane jest </a:t>
            </a:r>
            <a:r>
              <a:rPr lang="pl" sz="2200">
                <a:solidFill>
                  <a:srgbClr val="000000"/>
                </a:solidFill>
              </a:rPr>
              <a:t>57 </a:t>
            </a:r>
            <a:r>
              <a:rPr lang="pl" sz="2200">
                <a:solidFill>
                  <a:srgbClr val="000000"/>
                </a:solidFill>
              </a:rPr>
              <a:t>cech statystycznych</a:t>
            </a:r>
            <a:endParaRPr sz="2200">
              <a:solidFill>
                <a:srgbClr val="000000"/>
              </a:solidFill>
            </a:endParaRPr>
          </a:p>
          <a:p>
            <a:pPr indent="-368300" lvl="0" marL="45720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Char char="●"/>
            </a:pPr>
            <a:r>
              <a:rPr b="1" lang="pl" sz="2200">
                <a:solidFill>
                  <a:srgbClr val="000000"/>
                </a:solidFill>
              </a:rPr>
              <a:t>Normalizacja</a:t>
            </a:r>
            <a:r>
              <a:rPr lang="pl" sz="2200">
                <a:solidFill>
                  <a:srgbClr val="000000"/>
                </a:solidFill>
              </a:rPr>
              <a:t>: Wszystkie cechy są poddawane standaryzacji Z-score (badanie odchylenia wartości od średniej) dla każdego </a:t>
            </a:r>
            <a:r>
              <a:rPr lang="pl" sz="2200">
                <a:solidFill>
                  <a:srgbClr val="000000"/>
                </a:solidFill>
              </a:rPr>
              <a:t>ochotnika</a:t>
            </a:r>
            <a:r>
              <a:rPr lang="pl" sz="2200">
                <a:solidFill>
                  <a:srgbClr val="000000"/>
                </a:solidFill>
              </a:rPr>
              <a:t>, aby wyeliminować różnice wynikające z osobniczych cech fizjologicznych.</a:t>
            </a:r>
            <a:endParaRPr sz="22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3200"/>
              <a:t>Metodologia M1</a:t>
            </a:r>
            <a:endParaRPr sz="3200"/>
          </a:p>
        </p:txBody>
      </p:sp>
      <p:sp>
        <p:nvSpPr>
          <p:cNvPr id="94" name="Google Shape;94;p17"/>
          <p:cNvSpPr txBox="1"/>
          <p:nvPr>
            <p:ph idx="4294967295" type="body"/>
          </p:nvPr>
        </p:nvSpPr>
        <p:spPr>
          <a:xfrm>
            <a:off x="210450" y="814750"/>
            <a:ext cx="8723100" cy="41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700">
                <a:solidFill>
                  <a:srgbClr val="000000"/>
                </a:solidFill>
              </a:rPr>
              <a:t>Ten etap odbywa się na etapie treningu systemu, przy użyciu danych etykietowanych, w celu zdefiniowania bazowych profili (klastrów).</a:t>
            </a:r>
            <a:endParaRPr sz="1700">
              <a:solidFill>
                <a:srgbClr val="000000"/>
              </a:solidFill>
            </a:endParaRPr>
          </a:p>
          <a:p>
            <a:pPr indent="-3365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Char char="●"/>
            </a:pPr>
            <a:r>
              <a:rPr b="1" lang="pl" sz="1700">
                <a:solidFill>
                  <a:srgbClr val="000000"/>
                </a:solidFill>
              </a:rPr>
              <a:t>Transformacja macierzy</a:t>
            </a:r>
            <a:r>
              <a:rPr lang="pl" sz="1700">
                <a:solidFill>
                  <a:srgbClr val="000000"/>
                </a:solidFill>
              </a:rPr>
              <a:t>: Mapa cech jest przekształcana w macierz profilowania użytkownika, gdzie dla każdego użytkownika obliczana jest średnia i odchylenie standardowe cech dla każdej klasy emocji.</a:t>
            </a:r>
            <a:endParaRPr sz="1700">
              <a:solidFill>
                <a:srgbClr val="000000"/>
              </a:solidFill>
            </a:endParaRPr>
          </a:p>
          <a:p>
            <a:pPr indent="-3365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Char char="●"/>
            </a:pPr>
            <a:r>
              <a:rPr b="1" lang="pl" sz="1700">
                <a:solidFill>
                  <a:srgbClr val="000000"/>
                </a:solidFill>
              </a:rPr>
              <a:t>Wyszukiwanie klastrów typologii (TC)</a:t>
            </a:r>
            <a:r>
              <a:rPr lang="pl" sz="1700">
                <a:solidFill>
                  <a:srgbClr val="000000"/>
                </a:solidFill>
              </a:rPr>
              <a:t>: Przekształcona macierz jest poddawana klastrowaniu hierarchicznemu w celu znalezienia optymalnej liczby grup użytkowników </a:t>
            </a:r>
            <a:r>
              <a:rPr lang="pl" sz="1700">
                <a:solidFill>
                  <a:srgbClr val="000000"/>
                </a:solidFill>
              </a:rPr>
              <a:t>(typologii)</a:t>
            </a:r>
            <a:r>
              <a:rPr lang="pl" sz="1700">
                <a:solidFill>
                  <a:srgbClr val="000000"/>
                </a:solidFill>
              </a:rPr>
              <a:t> o podobnych reakcjach.</a:t>
            </a:r>
            <a:endParaRPr sz="1700">
              <a:solidFill>
                <a:srgbClr val="000000"/>
              </a:solidFill>
            </a:endParaRPr>
          </a:p>
          <a:p>
            <a:pPr indent="-33655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Char char="●"/>
            </a:pPr>
            <a:r>
              <a:rPr b="1" lang="pl" sz="1700">
                <a:solidFill>
                  <a:srgbClr val="000000"/>
                </a:solidFill>
              </a:rPr>
              <a:t>Optymalizacja</a:t>
            </a:r>
            <a:r>
              <a:rPr lang="pl" sz="1700">
                <a:solidFill>
                  <a:srgbClr val="000000"/>
                </a:solidFill>
              </a:rPr>
              <a:t>: Poprzez wskaźnik Dunna oceniana jest jakość podziału i wymuszone zostaje, aby każdy klaster zawierał minimum 15% zbioru danych.</a:t>
            </a:r>
            <a:endParaRPr sz="17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3200"/>
              <a:t>Metodologia M1, ciąg dalszy</a:t>
            </a:r>
            <a:endParaRPr sz="3200"/>
          </a:p>
        </p:txBody>
      </p:sp>
      <p:sp>
        <p:nvSpPr>
          <p:cNvPr id="100" name="Google Shape;100;p18"/>
          <p:cNvSpPr txBox="1"/>
          <p:nvPr>
            <p:ph idx="4294967295" type="body"/>
          </p:nvPr>
        </p:nvSpPr>
        <p:spPr>
          <a:xfrm>
            <a:off x="210450" y="814750"/>
            <a:ext cx="8723100" cy="41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</a:rPr>
              <a:t>Po zdefiniowaniu klastrów tworzone są dedykowane modele sztucznej inteligencji.</a:t>
            </a:r>
            <a:endParaRPr sz="2400">
              <a:solidFill>
                <a:srgbClr val="000000"/>
              </a:solidFill>
            </a:endParaRPr>
          </a:p>
          <a:p>
            <a:pPr indent="-3810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Char char="●"/>
            </a:pPr>
            <a:r>
              <a:rPr b="1" lang="pl" sz="2400">
                <a:solidFill>
                  <a:srgbClr val="000000"/>
                </a:solidFill>
              </a:rPr>
              <a:t>Przypisanie danych</a:t>
            </a:r>
            <a:r>
              <a:rPr lang="pl" sz="2400">
                <a:solidFill>
                  <a:srgbClr val="000000"/>
                </a:solidFill>
              </a:rPr>
              <a:t>: Wszyscy użytkownicy są przypisani do konkretnych klastrów typologii (TC).</a:t>
            </a:r>
            <a:endParaRPr sz="2400">
              <a:solidFill>
                <a:srgbClr val="000000"/>
              </a:solidFill>
            </a:endParaRPr>
          </a:p>
          <a:p>
            <a:pPr indent="-3810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Char char="●"/>
            </a:pPr>
            <a:r>
              <a:rPr b="1" lang="pl" sz="2400">
                <a:solidFill>
                  <a:srgbClr val="000000"/>
                </a:solidFill>
              </a:rPr>
              <a:t>Trenowanie</a:t>
            </a:r>
            <a:r>
              <a:rPr lang="pl" sz="2400">
                <a:solidFill>
                  <a:srgbClr val="000000"/>
                </a:solidFill>
              </a:rPr>
              <a:t>: Dla każdego klastra typologii trenowany jest oddzielny model klasyfikacyjny (KNN), który jest pół-personalizowany</a:t>
            </a:r>
            <a:endParaRPr sz="24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9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3200"/>
              <a:t>Metodologia M2</a:t>
            </a:r>
            <a:endParaRPr sz="3200"/>
          </a:p>
        </p:txBody>
      </p:sp>
      <p:sp>
        <p:nvSpPr>
          <p:cNvPr id="106" name="Google Shape;106;p19"/>
          <p:cNvSpPr txBox="1"/>
          <p:nvPr>
            <p:ph idx="4294967295" type="body"/>
          </p:nvPr>
        </p:nvSpPr>
        <p:spPr>
          <a:xfrm>
            <a:off x="210450" y="814750"/>
            <a:ext cx="8723100" cy="41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l" sz="2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Aby system mógł przyjmować nowych użytkowników, którzy nie dostarczają pełnych profili statystycznych (tj. nie mają etykietowanych danych), konieczne jest </a:t>
            </a:r>
            <a:r>
              <a:rPr b="1" lang="pl" sz="2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stworzenie klastrów wewnętrznych (IC)</a:t>
            </a:r>
            <a:r>
              <a:rPr lang="pl" sz="2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2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just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2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Wewnątrz każdego klastra typologii (TC) algorytm ponownie klastruje dane treningowe, tworząc klastry wewnętrzne.</a:t>
            </a:r>
            <a:endParaRPr sz="26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0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3200"/>
              <a:t>Metodologia M2, ciąg dalszy</a:t>
            </a:r>
            <a:endParaRPr sz="3200"/>
          </a:p>
        </p:txBody>
      </p:sp>
      <p:sp>
        <p:nvSpPr>
          <p:cNvPr id="112" name="Google Shape;112;p20"/>
          <p:cNvSpPr txBox="1"/>
          <p:nvPr>
            <p:ph idx="4294967295" type="body"/>
          </p:nvPr>
        </p:nvSpPr>
        <p:spPr>
          <a:xfrm>
            <a:off x="210450" y="814750"/>
            <a:ext cx="8723100" cy="41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pl" sz="2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Dodawanie nowych użytkowników do aktywnego systemu jest dokonywane poprzez </a:t>
            </a:r>
            <a:r>
              <a:rPr b="1" lang="pl" sz="2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obliczenie odległości ich obserwacji do najbliższych klastrów wewnętrznych</a:t>
            </a:r>
            <a:r>
              <a:rPr lang="pl" sz="2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pl" sz="2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(IC) w ramach każdego klastra typologii (TC).</a:t>
            </a:r>
            <a:endParaRPr sz="2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pl" sz="2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Użytkownicy zostają przypisani do tego klastra typologii (i odpowiadającego mu modelu AI), dla którego suma odległości była najmniejsza.</a:t>
            </a:r>
            <a:endParaRPr sz="2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3200"/>
              <a:t>Wnioskowanie i fuzja</a:t>
            </a:r>
            <a:endParaRPr sz="3200"/>
          </a:p>
        </p:txBody>
      </p:sp>
      <p:sp>
        <p:nvSpPr>
          <p:cNvPr id="118" name="Google Shape;118;p21"/>
          <p:cNvSpPr txBox="1"/>
          <p:nvPr>
            <p:ph idx="4294967295" type="body"/>
          </p:nvPr>
        </p:nvSpPr>
        <p:spPr>
          <a:xfrm>
            <a:off x="210450" y="814750"/>
            <a:ext cx="8723100" cy="416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l" sz="2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 skutecznym przypisaniu użytkownika do klastra, system uruchamia dedykowany pół-personalizowany model AI (wytrenowany na danej typologii) w celu dokonania finalnej klasyfikacji emocji.</a:t>
            </a:r>
            <a:endParaRPr sz="2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just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2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Aby zapewnić większą niezawodność, </a:t>
            </a:r>
            <a:r>
              <a:rPr b="1" lang="pl" sz="2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wynik ten może być połączony z predykcją modelu ogólnego</a:t>
            </a:r>
            <a:r>
              <a:rPr lang="pl" sz="2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przy użyciu techniki </a:t>
            </a:r>
            <a:r>
              <a:rPr b="1" lang="pl" sz="2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późnej fuzji</a:t>
            </a:r>
            <a:r>
              <a:rPr lang="pl" sz="2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2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just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2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Mechanizm ten pozwala na dynamiczne ważenie decyzji obu modeli, co koryguje ewentualne błędy w przypadku, gdy przypisanie do typologii jest niejednoznaczne lub klaster jest słabiej zdefiniowany.</a:t>
            </a:r>
            <a:endParaRPr sz="2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2"/>
          <p:cNvSpPr txBox="1"/>
          <p:nvPr>
            <p:ph type="title"/>
          </p:nvPr>
        </p:nvSpPr>
        <p:spPr>
          <a:xfrm>
            <a:off x="0" y="0"/>
            <a:ext cx="8826600" cy="65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3200"/>
              <a:t>Implementacja - M1, przetwarzanie danych</a:t>
            </a:r>
            <a:endParaRPr sz="3200"/>
          </a:p>
        </p:txBody>
      </p:sp>
      <p:sp>
        <p:nvSpPr>
          <p:cNvPr id="124" name="Google Shape;124;p22"/>
          <p:cNvSpPr txBox="1"/>
          <p:nvPr/>
        </p:nvSpPr>
        <p:spPr>
          <a:xfrm>
            <a:off x="5373350" y="659100"/>
            <a:ext cx="3770700" cy="44844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AutoNum type="arabicPeriod"/>
            </a:pPr>
            <a:r>
              <a:rPr lang="pl" sz="1900"/>
              <a:t>Wzięcie macierzy surowych obserwacji </a:t>
            </a:r>
            <a:r>
              <a:rPr i="1" lang="pl" sz="1900"/>
              <a:t>D</a:t>
            </a:r>
            <a:r>
              <a:rPr lang="pl" sz="1900"/>
              <a:t> </a:t>
            </a:r>
            <a:r>
              <a:rPr i="1" lang="pl" sz="1900"/>
              <a:t>(O x F)</a:t>
            </a:r>
            <a:endParaRPr i="1"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AutoNum type="arabicPeriod"/>
            </a:pPr>
            <a:r>
              <a:rPr lang="pl" sz="1900"/>
              <a:t>Obliczenie średniej i odchylenia standardowego dla każdej cechy, pogrupowane według ID użytkownika i klasy emocji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AutoNum type="arabicPeriod"/>
            </a:pPr>
            <a:r>
              <a:rPr lang="pl" sz="1900"/>
              <a:t>Przekształcenie danych tak, aby jeden wiersz reprezentował jednego użytkownika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AutoNum type="arabicPeriod"/>
            </a:pPr>
            <a:r>
              <a:rPr lang="pl" sz="1900"/>
              <a:t>Utworzenie finalnej macierzy </a:t>
            </a:r>
            <a:r>
              <a:rPr i="1" lang="pl" sz="1900"/>
              <a:t>D’</a:t>
            </a:r>
            <a:r>
              <a:rPr lang="pl" sz="1900"/>
              <a:t> </a:t>
            </a:r>
            <a:r>
              <a:rPr i="1" lang="pl" sz="1900"/>
              <a:t>(N x M)</a:t>
            </a:r>
            <a:endParaRPr i="1" sz="1900"/>
          </a:p>
        </p:txBody>
      </p:sp>
      <p:pic>
        <p:nvPicPr>
          <p:cNvPr id="125" name="Google Shape;125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158988"/>
            <a:ext cx="5373350" cy="34846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0" y="0"/>
            <a:ext cx="8826600" cy="65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3200"/>
              <a:t>Implementacja - M2, wskaźnik Dunna</a:t>
            </a:r>
            <a:endParaRPr sz="3200"/>
          </a:p>
        </p:txBody>
      </p:sp>
      <p:sp>
        <p:nvSpPr>
          <p:cNvPr id="131" name="Google Shape;131;p23"/>
          <p:cNvSpPr txBox="1"/>
          <p:nvPr/>
        </p:nvSpPr>
        <p:spPr>
          <a:xfrm>
            <a:off x="5006025" y="659100"/>
            <a:ext cx="4137900" cy="44844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30200" lvl="0" marL="457200" rtl="0" algn="l">
              <a:spcBef>
                <a:spcPts val="1000"/>
              </a:spcBef>
              <a:spcAft>
                <a:spcPts val="0"/>
              </a:spcAft>
              <a:buSzPts val="1600"/>
              <a:buAutoNum type="arabicPeriod"/>
            </a:pPr>
            <a:r>
              <a:rPr lang="pl" sz="1600"/>
              <a:t>Obliczenie macierzy odległości euklidesowych między każdą parą punktów w zbiorze danych </a:t>
            </a:r>
            <a:r>
              <a:rPr i="1" lang="pl" sz="1600"/>
              <a:t>D</a:t>
            </a:r>
            <a:endParaRPr i="1" sz="1600"/>
          </a:p>
          <a:p>
            <a:pPr indent="-330200" lvl="0" marL="457200" rtl="0" algn="l">
              <a:spcBef>
                <a:spcPts val="1000"/>
              </a:spcBef>
              <a:spcAft>
                <a:spcPts val="0"/>
              </a:spcAft>
              <a:buSzPts val="1600"/>
              <a:buAutoNum type="arabicPeriod"/>
            </a:pPr>
            <a:r>
              <a:rPr lang="pl" sz="1600"/>
              <a:t>Obliczenie mianownika (zwartość), tj. znalezienie maksymalnej średnicy klastra (najw. odl. między dwoma punktami wewnątrz tej samej grupy)</a:t>
            </a:r>
            <a:endParaRPr sz="1600"/>
          </a:p>
          <a:p>
            <a:pPr indent="-330200" lvl="0" marL="457200" rtl="0" algn="l">
              <a:spcBef>
                <a:spcPts val="1000"/>
              </a:spcBef>
              <a:spcAft>
                <a:spcPts val="0"/>
              </a:spcAft>
              <a:buSzPts val="1600"/>
              <a:buAutoNum type="arabicPeriod"/>
            </a:pPr>
            <a:r>
              <a:rPr lang="pl" sz="1600"/>
              <a:t>Obliczenie licznika (separacja), tj. znalezienie minimalnej odległości międzyklastrowej (czyli między dwoma najbliższymi punktami z różnych grup)</a:t>
            </a:r>
            <a:endParaRPr sz="1600"/>
          </a:p>
          <a:p>
            <a:pPr indent="-330200" lvl="0" marL="457200" rtl="0" algn="l">
              <a:spcBef>
                <a:spcPts val="1000"/>
              </a:spcBef>
              <a:spcAft>
                <a:spcPts val="0"/>
              </a:spcAft>
              <a:buSzPts val="1600"/>
              <a:buAutoNum type="arabicPeriod"/>
            </a:pPr>
            <a:r>
              <a:rPr lang="pl" sz="1600"/>
              <a:t>Zwrócenie ilorazu minimalnej separacji i maksymalnej średnicy (im wyższy wynik, tym lepsze klastrowanie)</a:t>
            </a:r>
            <a:endParaRPr sz="1600"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036075"/>
            <a:ext cx="5006026" cy="37304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0" y="0"/>
            <a:ext cx="8826600" cy="65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3200"/>
              <a:t>Implementacja - M2, szukanie klastrów</a:t>
            </a:r>
            <a:endParaRPr sz="3200"/>
          </a:p>
        </p:txBody>
      </p:sp>
      <p:sp>
        <p:nvSpPr>
          <p:cNvPr id="138" name="Google Shape;138;p24"/>
          <p:cNvSpPr txBox="1"/>
          <p:nvPr/>
        </p:nvSpPr>
        <p:spPr>
          <a:xfrm>
            <a:off x="4279500" y="659100"/>
            <a:ext cx="4864500" cy="44844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30200" lvl="0" marL="457200" rtl="0" algn="just">
              <a:spcBef>
                <a:spcPts val="1000"/>
              </a:spcBef>
              <a:spcAft>
                <a:spcPts val="0"/>
              </a:spcAft>
              <a:buSzPts val="1600"/>
              <a:buAutoNum type="arabicPeriod"/>
            </a:pPr>
            <a:r>
              <a:rPr lang="pl" sz="1600"/>
              <a:t>Obliczenie minimalnej wymaganej liczby użytkowników w klastrze, aby uniknąć zbyt małych grup</a:t>
            </a:r>
            <a:endParaRPr sz="1600"/>
          </a:p>
          <a:p>
            <a:pPr indent="-330200" lvl="0" marL="457200" rtl="0" algn="just">
              <a:spcBef>
                <a:spcPts val="1000"/>
              </a:spcBef>
              <a:spcAft>
                <a:spcPts val="0"/>
              </a:spcAft>
              <a:buSzPts val="1600"/>
              <a:buAutoNum type="arabicPeriod"/>
            </a:pPr>
            <a:r>
              <a:rPr lang="pl" sz="1600"/>
              <a:t>Testowanie podziałów na od 2 do 10 grup przy użyciu klastrowania hierarchicznego</a:t>
            </a:r>
            <a:endParaRPr sz="1600"/>
          </a:p>
          <a:p>
            <a:pPr indent="-330200" lvl="0" marL="457200" rtl="0" algn="just">
              <a:spcBef>
                <a:spcPts val="1000"/>
              </a:spcBef>
              <a:spcAft>
                <a:spcPts val="0"/>
              </a:spcAft>
              <a:buSzPts val="1600"/>
              <a:buAutoNum type="arabicPeriod"/>
            </a:pPr>
            <a:r>
              <a:rPr lang="pl" sz="1600"/>
              <a:t>Identyfikowanie zbyt małych pod względem liczby użytkowników grup i przyłączenie ich do najbliższego dużego klastra</a:t>
            </a:r>
            <a:endParaRPr sz="1600"/>
          </a:p>
          <a:p>
            <a:pPr indent="-330200" lvl="0" marL="457200" rtl="0" algn="just">
              <a:spcBef>
                <a:spcPts val="1000"/>
              </a:spcBef>
              <a:spcAft>
                <a:spcPts val="0"/>
              </a:spcAft>
              <a:buSzPts val="1600"/>
              <a:buAutoNum type="arabicPeriod"/>
            </a:pPr>
            <a:r>
              <a:rPr lang="pl" sz="1600"/>
              <a:t>Obliczenie wskaźnika Dunna dla skorygowanego podziału w celu zmierzenia, jak dobrze odseparowane i zwarte są grupy</a:t>
            </a:r>
            <a:endParaRPr sz="1600"/>
          </a:p>
          <a:p>
            <a:pPr indent="-330200" lvl="0" marL="457200" rtl="0" algn="just">
              <a:spcBef>
                <a:spcPts val="1000"/>
              </a:spcBef>
              <a:spcAft>
                <a:spcPts val="0"/>
              </a:spcAft>
              <a:buSzPts val="1600"/>
              <a:buAutoNum type="arabicPeriod"/>
            </a:pPr>
            <a:r>
              <a:rPr lang="pl" sz="1600"/>
              <a:t>Zwrócenie podziału, który uzyskał najwyższy wskaźnik jakości (najwyższy wskaźnik Dunna)</a:t>
            </a:r>
            <a:endParaRPr sz="1600"/>
          </a:p>
        </p:txBody>
      </p:sp>
      <p:pic>
        <p:nvPicPr>
          <p:cNvPr id="139" name="Google Shape;139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659100"/>
            <a:ext cx="4279500" cy="4484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5"/>
          <p:cNvSpPr txBox="1"/>
          <p:nvPr>
            <p:ph type="title"/>
          </p:nvPr>
        </p:nvSpPr>
        <p:spPr>
          <a:xfrm>
            <a:off x="0" y="0"/>
            <a:ext cx="8826600" cy="65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3200"/>
              <a:t>Implementacja - M2, klastry </a:t>
            </a:r>
            <a:r>
              <a:rPr lang="pl" sz="3200"/>
              <a:t>wewnętrzne</a:t>
            </a:r>
            <a:endParaRPr sz="3200"/>
          </a:p>
        </p:txBody>
      </p:sp>
      <p:sp>
        <p:nvSpPr>
          <p:cNvPr id="145" name="Google Shape;145;p25"/>
          <p:cNvSpPr txBox="1"/>
          <p:nvPr/>
        </p:nvSpPr>
        <p:spPr>
          <a:xfrm>
            <a:off x="5029850" y="659100"/>
            <a:ext cx="4114200" cy="44844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30200" lvl="0" marL="457200" rtl="0" algn="just">
              <a:spcBef>
                <a:spcPts val="1000"/>
              </a:spcBef>
              <a:spcAft>
                <a:spcPts val="0"/>
              </a:spcAft>
              <a:buSzPts val="1600"/>
              <a:buAutoNum type="arabicPeriod"/>
            </a:pPr>
            <a:r>
              <a:rPr lang="pl" sz="1600"/>
              <a:t>Identyfikacja unikalnych klastrów typologii (TC), które zostały utworzone w etapie M1</a:t>
            </a:r>
            <a:endParaRPr sz="1600"/>
          </a:p>
          <a:p>
            <a:pPr indent="-330200" lvl="0" marL="457200" rtl="0" algn="just">
              <a:spcBef>
                <a:spcPts val="1000"/>
              </a:spcBef>
              <a:spcAft>
                <a:spcPts val="0"/>
              </a:spcAft>
              <a:buSzPts val="1600"/>
              <a:buAutoNum type="arabicPeriod"/>
            </a:pPr>
            <a:r>
              <a:rPr lang="pl" sz="1600"/>
              <a:t>Wyodrębnienie ze zbioru treningowego surowych obserwacji (cech) należących wyłącznie do aktualnie przetwarzanego klastra</a:t>
            </a:r>
            <a:endParaRPr sz="1600"/>
          </a:p>
          <a:p>
            <a:pPr indent="-330200" lvl="0" marL="457200" rtl="0" algn="just">
              <a:spcBef>
                <a:spcPts val="1000"/>
              </a:spcBef>
              <a:spcAft>
                <a:spcPts val="0"/>
              </a:spcAft>
              <a:buSzPts val="1600"/>
              <a:buAutoNum type="arabicPeriod"/>
            </a:pPr>
            <a:r>
              <a:rPr lang="pl" sz="1600"/>
              <a:t>Podział danych wewnątrz każdego klastra na mniejsze podgrupy (klastry wewnętrzne [IC]), przy użyciu algorytmu k-średnich</a:t>
            </a:r>
            <a:endParaRPr sz="1600"/>
          </a:p>
          <a:p>
            <a:pPr indent="-330200" lvl="0" marL="457200" rtl="0" algn="just">
              <a:spcBef>
                <a:spcPts val="1000"/>
              </a:spcBef>
              <a:spcAft>
                <a:spcPts val="0"/>
              </a:spcAft>
              <a:buSzPts val="1600"/>
              <a:buAutoNum type="arabicPeriod"/>
            </a:pPr>
            <a:r>
              <a:rPr lang="pl" sz="1600"/>
              <a:t>Obliczenie i zapisanie centroidów klastrów wewnętrznych jako punktów odniesienia w przestrzeni cech, służących do dopasowywania nowych użytkowników w fazie włączania</a:t>
            </a:r>
            <a:endParaRPr sz="1600"/>
          </a:p>
        </p:txBody>
      </p:sp>
      <p:pic>
        <p:nvPicPr>
          <p:cNvPr id="146" name="Google Shape;146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873063"/>
            <a:ext cx="5029849" cy="40564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6"/>
          <p:cNvSpPr txBox="1"/>
          <p:nvPr>
            <p:ph type="title"/>
          </p:nvPr>
        </p:nvSpPr>
        <p:spPr>
          <a:xfrm>
            <a:off x="0" y="0"/>
            <a:ext cx="9144000" cy="65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3200"/>
              <a:t>Implementacja - M2, przypisywanie użytkownika</a:t>
            </a:r>
            <a:endParaRPr sz="3200"/>
          </a:p>
        </p:txBody>
      </p:sp>
      <p:sp>
        <p:nvSpPr>
          <p:cNvPr id="152" name="Google Shape;152;p26"/>
          <p:cNvSpPr txBox="1"/>
          <p:nvPr/>
        </p:nvSpPr>
        <p:spPr>
          <a:xfrm>
            <a:off x="4935675" y="659100"/>
            <a:ext cx="4208400" cy="44844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23850" lvl="0" marL="457200" rtl="0" algn="just">
              <a:spcBef>
                <a:spcPts val="1000"/>
              </a:spcBef>
              <a:spcAft>
                <a:spcPts val="0"/>
              </a:spcAft>
              <a:buSzPts val="1500"/>
              <a:buAutoNum type="arabicPeriod"/>
            </a:pPr>
            <a:r>
              <a:rPr lang="pl" sz="1500"/>
              <a:t>Obliczenie macierzy odległości pomiędzy każdą obserwacją nowego użytkownika a wszystkimi centroidami klastrów wewnętrznych (IC) w ramach analizowanego klastra typologii</a:t>
            </a:r>
            <a:endParaRPr sz="1500"/>
          </a:p>
          <a:p>
            <a:pPr indent="-323850" lvl="0" marL="457200" rtl="0" algn="just">
              <a:spcBef>
                <a:spcPts val="1000"/>
              </a:spcBef>
              <a:spcAft>
                <a:spcPts val="0"/>
              </a:spcAft>
              <a:buSzPts val="1500"/>
              <a:buAutoNum type="arabicPeriod"/>
            </a:pPr>
            <a:r>
              <a:rPr lang="pl" sz="1500"/>
              <a:t>Wyznaczenie minimalnej odległości dla każdej pojedynczej obserwacji do najbliższego centroidu</a:t>
            </a:r>
            <a:endParaRPr sz="1500"/>
          </a:p>
          <a:p>
            <a:pPr indent="-323850" lvl="0" marL="457200" rtl="0" algn="just">
              <a:spcBef>
                <a:spcPts val="1000"/>
              </a:spcBef>
              <a:spcAft>
                <a:spcPts val="0"/>
              </a:spcAft>
              <a:buSzPts val="1500"/>
              <a:buAutoNum type="arabicPeriod"/>
            </a:pPr>
            <a:r>
              <a:rPr lang="pl" sz="1500"/>
              <a:t>Agregacja wyników poprzez zsumowanie minimalnych odległości, co stanowi całkowitą miarę dopasowania użytkownika do danej typologii</a:t>
            </a:r>
            <a:endParaRPr sz="1500"/>
          </a:p>
          <a:p>
            <a:pPr indent="-323850" lvl="0" marL="457200" rtl="0" algn="just">
              <a:spcBef>
                <a:spcPts val="1000"/>
              </a:spcBef>
              <a:spcAft>
                <a:spcPts val="0"/>
              </a:spcAft>
              <a:buSzPts val="1500"/>
              <a:buAutoNum type="arabicPeriod"/>
            </a:pPr>
            <a:r>
              <a:rPr lang="pl" sz="1500"/>
              <a:t>Przypisanie użytkownika do tego klastra typologii (TC), dla którego obliczona suma odległości była najmniejsza</a:t>
            </a:r>
            <a:endParaRPr sz="1600"/>
          </a:p>
        </p:txBody>
      </p:sp>
      <p:pic>
        <p:nvPicPr>
          <p:cNvPr id="153" name="Google Shape;15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134175"/>
            <a:ext cx="4935674" cy="35342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7"/>
          <p:cNvSpPr txBox="1"/>
          <p:nvPr>
            <p:ph type="title"/>
          </p:nvPr>
        </p:nvSpPr>
        <p:spPr>
          <a:xfrm>
            <a:off x="0" y="0"/>
            <a:ext cx="9144000" cy="65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3200"/>
              <a:t>Symulacja - dane i profilowanie</a:t>
            </a:r>
            <a:endParaRPr sz="3200"/>
          </a:p>
        </p:txBody>
      </p:sp>
      <p:pic>
        <p:nvPicPr>
          <p:cNvPr id="159" name="Google Shape;15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659100"/>
            <a:ext cx="4294654" cy="44844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81697" y="988075"/>
            <a:ext cx="3075253" cy="181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055726" y="3253650"/>
            <a:ext cx="3327205" cy="1889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2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682500" y="2802375"/>
            <a:ext cx="3995050" cy="429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2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82175" y="659100"/>
            <a:ext cx="3995700" cy="307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8"/>
          <p:cNvSpPr txBox="1"/>
          <p:nvPr>
            <p:ph type="title"/>
          </p:nvPr>
        </p:nvSpPr>
        <p:spPr>
          <a:xfrm>
            <a:off x="0" y="0"/>
            <a:ext cx="9144000" cy="65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3200"/>
              <a:t>Symulacja - klastry typologii i wewnętrzne</a:t>
            </a:r>
            <a:endParaRPr sz="3200"/>
          </a:p>
        </p:txBody>
      </p:sp>
      <p:pic>
        <p:nvPicPr>
          <p:cNvPr id="169" name="Google Shape;169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30313" y="1224763"/>
            <a:ext cx="1037725" cy="1408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13875" y="3119800"/>
            <a:ext cx="4029551" cy="17322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1158750"/>
            <a:ext cx="5023450" cy="3425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113875" y="2673175"/>
            <a:ext cx="4029550" cy="39646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2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113872" y="659100"/>
            <a:ext cx="4029550" cy="5259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9"/>
          <p:cNvSpPr txBox="1"/>
          <p:nvPr>
            <p:ph type="title"/>
          </p:nvPr>
        </p:nvSpPr>
        <p:spPr>
          <a:xfrm>
            <a:off x="0" y="0"/>
            <a:ext cx="9144000" cy="65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3200"/>
              <a:t>Symulacja - klastry typologii i wewnętrzne</a:t>
            </a:r>
            <a:endParaRPr sz="3200"/>
          </a:p>
        </p:txBody>
      </p:sp>
      <p:pic>
        <p:nvPicPr>
          <p:cNvPr id="179" name="Google Shape;179;p29"/>
          <p:cNvPicPr preferRelativeResize="0"/>
          <p:nvPr/>
        </p:nvPicPr>
        <p:blipFill rotWithShape="1">
          <a:blip r:embed="rId3">
            <a:alphaModFix/>
          </a:blip>
          <a:srcRect b="15957" l="0" r="0" t="15228"/>
          <a:stretch/>
        </p:blipFill>
        <p:spPr>
          <a:xfrm>
            <a:off x="0" y="659100"/>
            <a:ext cx="5574625" cy="19457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86775" y="2662487"/>
            <a:ext cx="4657201" cy="1314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486777" y="4701198"/>
            <a:ext cx="4657199" cy="38743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2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486775" y="4063850"/>
            <a:ext cx="4657201" cy="5508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0"/>
          <p:cNvSpPr txBox="1"/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Dziękuję za uwagę!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Material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4FC3F7"/>
      </a:accent5>
      <a:accent6>
        <a:srgbClr val="F4B400"/>
      </a:accent6>
      <a:hlink>
        <a:srgbClr val="4FC3F7"/>
      </a:hlink>
      <a:folHlink>
        <a:srgbClr val="4FC3F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